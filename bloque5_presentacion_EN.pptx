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C220"/>
                </a:solidFill>
              </a:rPr>
              <a:t>18 Months | 40 Stores | 5 Countries | $48.7M GMV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Retail Chain Centroamerica | Confidential | April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143000"/>
            <a:ext cx="3749039" cy="45720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18872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STORE PERFORMANCE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600200"/>
            <a:ext cx="3749039" cy="4114800"/>
          </a:xfrm>
          <a:prstGeom prst="rect">
            <a:avLst/>
          </a:prstGeom>
          <a:solidFill>
            <a:srgbClr val="E8F0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8328" y="1691640"/>
            <a:ext cx="3566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1A1A2E"/>
                </a:solidFill>
              </a:rPr>
              <a:t>▸ Comp stores grew GMV avg +8.3% YoY</a:t>
            </a:r>
          </a:p>
          <a:p>
            <a:pPr algn="l"/>
            <a:r>
              <a:rPr sz="1250">
                <a:solidFill>
                  <a:srgbClr val="1A1A2E"/>
                </a:solidFill>
              </a:rPr>
              <a:t>▸ Hipermercado is the most volatile format (peak: Christmas +34%)</a:t>
            </a:r>
          </a:p>
          <a:p>
            <a:pPr algn="l"/>
            <a:r>
              <a:rPr sz="1250">
                <a:solidFill>
                  <a:srgbClr val="1A1A2E"/>
                </a:solidFill>
              </a:rPr>
              <a:t>▸ Top 3 countries: CR, GT, SV above comp sales target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143000"/>
            <a:ext cx="3749039" cy="45720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97679" y="118872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LOYALTY &amp; CUSTOMER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600200"/>
            <a:ext cx="3749039" cy="4114800"/>
          </a:xfrm>
          <a:prstGeom prst="rect">
            <a:avLst/>
          </a:prstGeom>
          <a:solidFill>
            <a:srgbClr val="E8F0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15968" y="1691640"/>
            <a:ext cx="3566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1A1A2E"/>
                </a:solidFill>
              </a:rPr>
              <a:t>▸ 40.2% of transactions use loyalty card</a:t>
            </a:r>
          </a:p>
          <a:p>
            <a:pPr algn="l"/>
            <a:r>
              <a:rPr sz="1250">
                <a:solidFill>
                  <a:srgbClr val="1A1A2E"/>
                </a:solidFill>
              </a:rPr>
              <a:t>▸ Retention M+1 ranges 30–38% across cohorts</a:t>
            </a:r>
          </a:p>
          <a:p>
            <a:pPr algn="l"/>
            <a:r>
              <a:rPr sz="1250">
                <a:solidFill>
                  <a:srgbClr val="1A1A2E"/>
                </a:solidFill>
              </a:rPr>
              <a:t>▸ Biggest drop: M+1 to M+2 (−15 pp) — intervention needed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79" y="1143000"/>
            <a:ext cx="3749039" cy="457200"/>
          </a:xfrm>
          <a:prstGeom prst="rect">
            <a:avLst/>
          </a:prstGeom>
          <a:solidFill>
            <a:srgbClr val="EA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19" y="118872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RISKS IDENTIFIED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1600200"/>
            <a:ext cx="3749039" cy="4114800"/>
          </a:xfrm>
          <a:prstGeom prst="rect">
            <a:avLst/>
          </a:prstGeom>
          <a:solidFill>
            <a:srgbClr val="E8F0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93607" y="1691640"/>
            <a:ext cx="3566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1A1A2E"/>
                </a:solidFill>
              </a:rPr>
              <a:t>▸ A/B test: new display shows NO significant GMV lift (p=0.24)</a:t>
            </a:r>
          </a:p>
          <a:p>
            <a:pPr algn="l"/>
            <a:r>
              <a:rPr sz="1250">
                <a:solidFill>
                  <a:srgbClr val="1A1A2E"/>
                </a:solidFill>
              </a:rPr>
              <a:t>▸ TIENDA_012: 7-day data gap — possible POS failure</a:t>
            </a:r>
          </a:p>
          <a:p>
            <a:pPr algn="l"/>
            <a:r>
              <a:rPr sz="1250">
                <a:solidFill>
                  <a:srgbClr val="1A1A2E"/>
                </a:solidFill>
              </a:rPr>
              <a:t>▸ 231 items with price=0 outside promo — catalog error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5760720"/>
            <a:ext cx="11704320" cy="68580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0040" y="5806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Total GMV: $48.7M  |  171K transactions  |  Avg ticket: $278  |  Return rate: 2.03%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Store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C220"/>
                </a:solidFill>
              </a:rPr>
              <a:t>Comp Sales YoY | GMV per m² | Format Ranking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Retail Chain Centroamerica | Confidential | April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097280"/>
            <a:ext cx="5577840" cy="5212080"/>
          </a:xfrm>
          <a:prstGeom prst="rect">
            <a:avLst/>
          </a:prstGeom>
          <a:solidFill>
            <a:srgbClr val="E8F0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1430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53E2"/>
                </a:solidFill>
              </a:rPr>
              <a:t>Comp Sales Growth (YoY)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91640"/>
            <a:ext cx="2743200" cy="64008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7373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HIPERMERCADO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7373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A8703"/>
                </a:solidFill>
              </a:rPr>
              <a:t>+11.2%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697480"/>
            <a:ext cx="2743200" cy="64008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2743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SUPERMERCADO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7432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A8703"/>
                </a:solidFill>
              </a:rPr>
              <a:t>+7.8%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703320"/>
            <a:ext cx="2743200" cy="64008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37490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DESCUENTO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7490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A8703"/>
                </a:solidFill>
              </a:rPr>
              <a:t>+5.1%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709160"/>
            <a:ext cx="2743200" cy="640080"/>
          </a:xfrm>
          <a:prstGeom prst="rect">
            <a:avLst/>
          </a:prstGeom>
          <a:solidFill>
            <a:srgbClr val="747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47548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EXPRESS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4754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74767C"/>
                </a:solidFill>
              </a:rPr>
              <a:t>+3.2%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1097280"/>
            <a:ext cx="5943600" cy="5212080"/>
          </a:xfrm>
          <a:prstGeom prst="rect">
            <a:avLst/>
          </a:prstGeom>
          <a:solidFill>
            <a:srgbClr val="E8F0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26480" y="114300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53E2"/>
                </a:solidFill>
              </a:rPr>
              <a:t>GMV per m² — Last Quarter (Apr–Jun 2025)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169164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1A1A2E"/>
                </a:solidFill>
              </a:rPr>
              <a:t>▸ 8 stores flagged as BAJO_RENDIMIENTO (P25 of their format)</a:t>
            </a:r>
          </a:p>
          <a:p>
            <a:pPr algn="l"/>
            <a:r>
              <a:rPr sz="1250">
                <a:solidFill>
                  <a:srgbClr val="1A1A2E"/>
                </a:solidFill>
              </a:rPr>
              <a:t>▸ EXPRESS stores show highest GMV/m² efficiency despite low absolute GMV</a:t>
            </a:r>
          </a:p>
          <a:p>
            <a:pPr algn="l"/>
            <a:r>
              <a:rPr sz="1250">
                <a:solidFill>
                  <a:srgbClr val="1A1A2E"/>
                </a:solidFill>
              </a:rPr>
              <a:t>▸ Bottom 3 HIPERMERCADO stores: 42% below format median</a:t>
            </a:r>
          </a:p>
          <a:p>
            <a:pPr algn="l"/>
            <a:r>
              <a:rPr sz="1250">
                <a:solidFill>
                  <a:srgbClr val="1A1A2E"/>
                </a:solidFill>
              </a:rPr>
              <a:t>▸ Recommended action: store visit + surtido review for underperformers</a:t>
            </a:r>
          </a:p>
          <a:p>
            <a:pPr algn="l"/>
            <a:r>
              <a:rPr sz="1250">
                <a:solidFill>
                  <a:srgbClr val="1A1A2E"/>
                </a:solidFill>
              </a:rPr>
              <a:t>▸ Productivity gap between top and bottom quartile: $18.4/m²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C220"/>
                </a:solidFill>
              </a:rPr>
              <a:t>Underperforming Stores | Low GMROI Vendors | Loyalty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Retail Chain Centroamerica | Confidential | April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097280"/>
            <a:ext cx="137160" cy="100584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0972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3E2"/>
                </a:solidFill>
              </a:rPr>
              <a:t>1. Underperforming Stores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50876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2E"/>
                </a:solidFill>
              </a:rPr>
              <a:t>8 stores below P25 GMV/m² in their format. Potential GMV uplift if brought to median: ~$1.2M/quarter. Priority: 3 HIPERMERCADO stores in HN &amp; NI.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2377439"/>
            <a:ext cx="137160" cy="100584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237743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220"/>
                </a:solidFill>
              </a:rPr>
              <a:t>2. Low GMROI Vendors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78892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2E"/>
                </a:solidFill>
              </a:rPr>
              <a:t>Vendors with GMROI &lt; 1.0 are generating LESS gross margin than their cost. Renegotiate terms or delist products. Focus on Tier C vendors in Electronics &amp; Apparel categories.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3657600"/>
            <a:ext cx="137160" cy="100584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36576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A8703"/>
                </a:solidFill>
              </a:rPr>
              <a:t>3. Loyalty Retention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06908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2E"/>
                </a:solidFill>
              </a:rPr>
              <a:t>M+1 to M+2 retention drops 15 pp on average. A targeted coupon campaign at week 3 post-second-purchase could recover 5–10 pp retention → ~$180K incremental annual GMV from loyalty segment.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4937759"/>
            <a:ext cx="137160" cy="1005840"/>
          </a:xfrm>
          <a:prstGeom prst="rect">
            <a:avLst/>
          </a:prstGeom>
          <a:solidFill>
            <a:srgbClr val="747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80" y="493775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4767C"/>
                </a:solidFill>
              </a:rPr>
              <a:t>4. Digital Payment Adoption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53492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2E"/>
                </a:solidFill>
              </a:rPr>
              <a:t>HN &amp; NI average 40% cash transactions vs 25% in CR. Digital payment adoption reduces operational cost by ~$0.8/transaction. Partner with mobile wallets (Tigo Money) in low-banked markets.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C220"/>
                </a:solidFill>
              </a:rPr>
              <a:t>Stock-Outs | Retention Drop | Data Quality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Retail Chain Centroamerica | Confidential | April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97280"/>
            <a:ext cx="3749039" cy="457200"/>
          </a:xfrm>
          <a:prstGeom prst="rect">
            <a:avLst/>
          </a:prstGeom>
          <a:solidFill>
            <a:srgbClr val="EA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14300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Stock-Out Impact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554480"/>
            <a:ext cx="3749039" cy="4846320"/>
          </a:xfrm>
          <a:prstGeom prst="rect">
            <a:avLst/>
          </a:prstGeom>
          <a:solidFill>
            <a:srgbClr val="E8F0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8328" y="1645920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1A1A2E"/>
                </a:solidFill>
              </a:rPr>
              <a:t>▸ Electronics &amp; Toys show highest estimated GMV at risk from low-rotation SKUs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▸ Gap analysis identified items with 3+ consecutive days without sales in active stores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▸ Estimated annual GMV at risk: to be quantified with full OOS detection pipeline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▸ Seasonality peak (Dec) amplifies risk: surtido must be ready by Nov 1st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097280"/>
            <a:ext cx="3749039" cy="45720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97679" y="114300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Retention Drop Risk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554480"/>
            <a:ext cx="3749039" cy="4846320"/>
          </a:xfrm>
          <a:prstGeom prst="rect">
            <a:avLst/>
          </a:prstGeom>
          <a:solidFill>
            <a:srgbClr val="E8F0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15968" y="1645920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1A1A2E"/>
                </a:solidFill>
              </a:rPr>
              <a:t>▸ Recent cohorts (Oct–Nov 2024) show lower M+1 retention than older cohorts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▸ If trend continues, loyalty program ROI declines without intervention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▸ M+6 retention: only ~18–22% of original cohort remains active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▸ Risk: loyalty card penetration stalls at 40% without new value proposition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79" y="1097280"/>
            <a:ext cx="3749039" cy="457200"/>
          </a:xfrm>
          <a:prstGeom prst="rect">
            <a:avLst/>
          </a:prstGeom>
          <a:solidFill>
            <a:srgbClr val="747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19" y="114300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Data Quality Risks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1554480"/>
            <a:ext cx="3749039" cy="4846320"/>
          </a:xfrm>
          <a:prstGeom prst="rect">
            <a:avLst/>
          </a:prstGeom>
          <a:solidFill>
            <a:srgbClr val="E8F0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93607" y="1645920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1A1A2E"/>
                </a:solidFill>
              </a:rPr>
              <a:t>▸ 50 transactions occurred BEFORE store opening_date — POS configuration error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▸ 1 vendor_id orphaned in product catalog — GMROI analysis incomplete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▸ 1,745 transactions with total_amount discrepancy vs item sum (max gap: $202)</a:t>
            </a:r>
          </a:p>
          <a:p>
            <a:pPr algn="l"/>
            <a:r>
              <a:rPr sz="1150">
                <a:solidFill>
                  <a:srgbClr val="1A1A2E"/>
                </a:solidFill>
              </a:rPr>
              <a:t>▸ TIENDA_008 &amp; TIENDA_037: dual A/B assignment — random assignment process must be fixed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C220"/>
                </a:solidFill>
              </a:rPr>
              <a:t>What to do | Who | By When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Retail Chain Centroamerica | Confidential | April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097280"/>
            <a:ext cx="109728" cy="86868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3E2"/>
                </a:solidFill>
              </a:rPr>
              <a:t>Fix A/B Test 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4447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4767C"/>
                </a:solidFill>
              </a:rPr>
              <a:t>Owner: Analytics Team  |  By: May 15,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097280"/>
            <a:ext cx="6309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2E"/>
                </a:solidFill>
              </a:rPr>
              <a:t>Remove TIENDA_008 &amp; TIENDA_037 from active experiments. Implement randomization protocol with pre-test balance check before any future experiment launches.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2176272"/>
            <a:ext cx="109728" cy="86868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" y="21762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A8703"/>
                </a:solidFill>
              </a:rPr>
              <a:t>Launch Loyalty Intervention at M+2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52374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4767C"/>
                </a:solidFill>
              </a:rPr>
              <a:t>Owner: CRM / Marketing  |  By: June 1,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76272"/>
            <a:ext cx="6309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2E"/>
                </a:solidFill>
              </a:rPr>
              <a:t>Deploy personalized coupon at day 21 post-second-purchase for all loyalty customers. Target: recover 5 pp retention. Expected GMV impact: +$180K/year.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3255263"/>
            <a:ext cx="109728" cy="868680"/>
          </a:xfrm>
          <a:prstGeom prst="rect">
            <a:avLst/>
          </a:prstGeom>
          <a:solidFill>
            <a:srgbClr val="EA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4048" y="3255263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1100"/>
                </a:solidFill>
              </a:rPr>
              <a:t>Store Productivity Action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3602735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4767C"/>
                </a:solidFill>
              </a:rPr>
              <a:t>Owner: Regional Operations VP  |  By: May 30,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3255263"/>
            <a:ext cx="6309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2E"/>
                </a:solidFill>
              </a:rPr>
              <a:t>8 BAJO_RENDIMIENTO stores need store visit in 30 days. Focus: surtido optimization, staff training, local promo calendar. Target: bring all stores to format median GMV/m² by Q3.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4334256"/>
            <a:ext cx="109728" cy="86868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4048" y="433425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220"/>
                </a:solidFill>
              </a:rPr>
              <a:t>Renegotiate Low-GMROI Vendors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46817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4767C"/>
                </a:solidFill>
              </a:rPr>
              <a:t>Owner: Buying / Procurement  |  By: Next Vendor Review Cycle (Q3)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4334256"/>
            <a:ext cx="6309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2E"/>
                </a:solidFill>
              </a:rPr>
              <a:t>Identify all Tier C vendors with GMROI &lt; 1.0. Negotiate cost reduction or delist. Reallocate shelf space to high-velocity, high-margin SKUs.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5413248"/>
            <a:ext cx="109728" cy="868680"/>
          </a:xfrm>
          <a:prstGeom prst="rect">
            <a:avLst/>
          </a:prstGeom>
          <a:solidFill>
            <a:srgbClr val="747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84048" y="541324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4767C"/>
                </a:solidFill>
              </a:rPr>
              <a:t>Implement Daily Store Data Monitor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" y="5760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4767C"/>
                </a:solidFill>
              </a:rPr>
              <a:t>Owner: Data Engineering  |  By: June 15,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5413248"/>
            <a:ext cx="6309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2E"/>
                </a:solidFill>
              </a:rPr>
              <a:t>Automated alert when any store has 0 transactions for &gt;24h. Fixes root cause of TIENDA_012 gap and pre-opening data issue. Alert via Slack + dashboard red indicator.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916</Words>
  <Application>Microsoft Office PowerPoint</Application>
  <PresentationFormat>Personalizado</PresentationFormat>
  <Paragraphs>81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Diego Calderon Calderon</cp:lastModifiedBy>
  <cp:revision>1</cp:revision>
  <dcterms:created xsi:type="dcterms:W3CDTF">2013-01-27T09:14:16Z</dcterms:created>
  <dcterms:modified xsi:type="dcterms:W3CDTF">2026-04-26T05:24:51Z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44a753e-b937-4727-8173-58e965e4ef41_Enabled">
    <vt:lpwstr>true</vt:lpwstr>
  </property>
  <property fmtid="{D5CDD505-2E9C-101B-9397-08002B2CF9AE}" pid="3" name="MSIP_Label_444a753e-b937-4727-8173-58e965e4ef41_SetDate">
    <vt:lpwstr>2026-04-26T05:24:51Z</vt:lpwstr>
  </property>
  <property fmtid="{D5CDD505-2E9C-101B-9397-08002B2CF9AE}" pid="4" name="MSIP_Label_444a753e-b937-4727-8173-58e965e4ef41_Method">
    <vt:lpwstr>Standard</vt:lpwstr>
  </property>
  <property fmtid="{D5CDD505-2E9C-101B-9397-08002B2CF9AE}" pid="5" name="MSIP_Label_444a753e-b937-4727-8173-58e965e4ef41_Name">
    <vt:lpwstr>0a306a40-471c-426e-91d6-468476917b5e</vt:lpwstr>
  </property>
  <property fmtid="{D5CDD505-2E9C-101B-9397-08002B2CF9AE}" pid="6" name="MSIP_Label_444a753e-b937-4727-8173-58e965e4ef41_SiteId">
    <vt:lpwstr>3cbcc3d3-094d-4006-9849-0d11d61f484d</vt:lpwstr>
  </property>
  <property fmtid="{D5CDD505-2E9C-101B-9397-08002B2CF9AE}" pid="7" name="MSIP_Label_444a753e-b937-4727-8173-58e965e4ef41_ActionId">
    <vt:lpwstr>94c8e5e3-6038-4e7e-b4a7-e737c1e4fe7b</vt:lpwstr>
  </property>
  <property fmtid="{D5CDD505-2E9C-101B-9397-08002B2CF9AE}" pid="8" name="MSIP_Label_444a753e-b937-4727-8173-58e965e4ef41_ContentBits">
    <vt:lpwstr>0</vt:lpwstr>
  </property>
  <property fmtid="{D5CDD505-2E9C-101B-9397-08002B2CF9AE}" pid="9" name="MSIP_Label_444a753e-b937-4727-8173-58e965e4ef41_Tag">
    <vt:lpwstr>10, 3, 0, 1</vt:lpwstr>
  </property>
</Properties>
</file>