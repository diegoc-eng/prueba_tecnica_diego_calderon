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220"/>
                </a:solidFill>
              </a:rPr>
              <a:t>18 Months | 40 Stores | 5 Countries | $48.7M GMV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Retail Chain Centroamerica | Confidential |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3749039" cy="45720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STORE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600200"/>
            <a:ext cx="3749039" cy="4114800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6916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▸ Comp stores grew GMV avg +8.3% YoY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Hipermercado is the most volatile format (peak: Christmas +34%)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Top 3 countries: CR, GT, SV above comp sales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3749039" cy="45720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1887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LOYALTY &amp; CUSTOMER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600200"/>
            <a:ext cx="3749039" cy="4114800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16916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▸ 40.2% of transactions use loyalty card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Retention M+1 ranges 30–38% across cohorts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Biggest drop: M+1 to M+2 (−15 pp) — intervention needed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143000"/>
            <a:ext cx="3749039" cy="45720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1887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RISKS IDENTIFIED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600200"/>
            <a:ext cx="3749039" cy="4114800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7" y="16916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▸ A/B test: new display shows NO significant GMV lift (p=0.24)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TIENDA_012: 7-day data gap — possible POS failure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231 items with price=0 outside promo — catalog error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5760720"/>
            <a:ext cx="11704320" cy="6858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5806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Total GMV: $48.7M  |  171K transactions  |  Avg ticket: $278  |  Return rate: 2.03%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Store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220"/>
                </a:solidFill>
              </a:rPr>
              <a:t>Comp Sales YoY | GMV per m² | Format 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Retail Chain Centroamerica | Confidential |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097280"/>
            <a:ext cx="5577840" cy="5212080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3E2"/>
                </a:solidFill>
              </a:rPr>
              <a:t>Comp Sales Growth (YoY)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91640"/>
            <a:ext cx="2743200" cy="64008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HIPERMERCADO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8703"/>
                </a:solidFill>
              </a:rPr>
              <a:t>+11.2%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97480"/>
            <a:ext cx="2743200" cy="64008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SUPERMERCADO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8703"/>
                </a:solidFill>
              </a:rPr>
              <a:t>+7.8%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03320"/>
            <a:ext cx="2743200" cy="64008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749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DESCUENTO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749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8703"/>
                </a:solidFill>
              </a:rPr>
              <a:t>+5.1%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709160"/>
            <a:ext cx="2743200" cy="640080"/>
          </a:xfrm>
          <a:prstGeom prst="rect">
            <a:avLst/>
          </a:prstGeom>
          <a:solidFill>
            <a:srgbClr val="747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754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EXPRESS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754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4767C"/>
                </a:solidFill>
              </a:rPr>
              <a:t>+3.2%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097280"/>
            <a:ext cx="5943600" cy="5212080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1430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3E2"/>
                </a:solidFill>
              </a:rPr>
              <a:t>GMV per m² — Last Quarter (Apr–Jun 2025)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69164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▸ 8 stores flagged as BAJO_RENDIMIENTO (P25 of their format)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EXPRESS stores show highest GMV/m² efficiency despite low absolute GMV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Bottom 3 HIPERMERCADO stores: 42% below format median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Recommended action: store visit + surtido review for underperformers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Productivity gap between top and bottom quartile: $18.4/m²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220"/>
                </a:solidFill>
              </a:rPr>
              <a:t>Underperforming Stores | Low GMROI Vendors | Loyalty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Retail Chain Centroamerica | Confidential |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097280"/>
            <a:ext cx="137160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3E2"/>
                </a:solidFill>
              </a:rPr>
              <a:t>1. Underperforming Stores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087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8 stores below P25 GMV/m² in their format. Potential GMV uplift if brought to median: ~$1.2M/quarter. Priority: 3 HIPERMERCADO stores in HN &amp; NI.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377439"/>
            <a:ext cx="137160" cy="10058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774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220"/>
                </a:solidFill>
              </a:rPr>
              <a:t>2. Low GMROI Vendors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8892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Vendors with GMROI &lt; 1.0 are generating LESS gross margin than their cost. Renegotiate terms or delist products. Focus on Tier C vendors in Electronics &amp; Apparel categories.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657600"/>
            <a:ext cx="137160" cy="100584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657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8703"/>
                </a:solidFill>
              </a:rPr>
              <a:t>3. Loyalty Retention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8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M+1 to M+2 retention drops 15 pp on average. A targeted coupon campaign at week 3 post-second-purchase could recover 5–10 pp retention → ~$180K incremental annual GMV from loyalty segment.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937759"/>
            <a:ext cx="137160" cy="1005840"/>
          </a:xfrm>
          <a:prstGeom prst="rect">
            <a:avLst/>
          </a:prstGeom>
          <a:solidFill>
            <a:srgbClr val="747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93775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767C"/>
                </a:solidFill>
              </a:rPr>
              <a:t>4. Digital Payment Adoption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3492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HN &amp; NI average 40% cash transactions vs 25% in CR. Digital payment adoption reduces operational cost by ~$0.8/transaction. Partner with mobile wallets (Tigo Money) in low-banked markets.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220"/>
                </a:solidFill>
              </a:rPr>
              <a:t>Stock-Outs | Retention Drop | Data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Retail Chain Centroamerica | Confidential |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97280"/>
            <a:ext cx="3749039" cy="45720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Stock-Out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54480"/>
            <a:ext cx="3749039" cy="4846320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64592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▸ Electronics &amp; Toys show highest estimated GMV at risk from low-rotation SKUs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Gap analysis identified items with 3+ consecutive days without sales in active stores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Estimated annual GMV at risk: to be quantified with full OOS detection pipeline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Seasonality peak (Dec) amplifies risk: surtido must be ready by Nov 1st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97280"/>
            <a:ext cx="3749039" cy="4572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1430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Retention Drop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554480"/>
            <a:ext cx="3749039" cy="4846320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164592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▸ Recent cohorts (Oct–Nov 2024) show lower M+1 retention than older cohorts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If trend continues, loyalty program ROI declines without intervention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M+6 retention: only ~18–22% of original cohort remains active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Risk: loyalty card penetration stalls at 40% without new value proposition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097280"/>
            <a:ext cx="3749039" cy="457200"/>
          </a:xfrm>
          <a:prstGeom prst="rect">
            <a:avLst/>
          </a:prstGeom>
          <a:solidFill>
            <a:srgbClr val="747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1430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Quality Risks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554480"/>
            <a:ext cx="3749039" cy="4846320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7" y="164592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▸ 50 transactions occurred BEFORE store opening_date — POS configuration error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1 vendor_id orphaned in product catalog — GMROI analysis incomplete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1,745 transactions with total_amount discrepancy vs item sum (max gap: $202)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TIENDA_008 &amp; TIENDA_037: dual A/B assignment — random assignment process must be fixed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220"/>
                </a:solidFill>
              </a:rPr>
              <a:t>What to do | Who | By When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Retail Chain Centroamerica | Confidential |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097280"/>
            <a:ext cx="109728" cy="86868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3E2"/>
                </a:solidFill>
              </a:rPr>
              <a:t>Fix A/B Test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4447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4767C"/>
                </a:solidFill>
              </a:rPr>
              <a:t>Owner: Analytics Team  |  By: May 15,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097280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Remove TIENDA_008 &amp; TIENDA_037 from active experiments. Implement randomization protocol with pre-test balance check before any future experiment launches.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176272"/>
            <a:ext cx="109728" cy="86868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1762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8703"/>
                </a:solidFill>
              </a:rPr>
              <a:t>Launch Loyalty Intervention at M+2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5237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4767C"/>
                </a:solidFill>
              </a:rPr>
              <a:t>Owner: CRM / Marketing  |  By: June 1,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Deploy personalized coupon at day 21 post-second-purchase for all loyalty customers. Target: recover 5 pp retention. Expected GMV impact: +$180K/year.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255263"/>
            <a:ext cx="109728" cy="86868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255263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1100"/>
                </a:solidFill>
              </a:rPr>
              <a:t>Store Productivity Action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60273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4767C"/>
                </a:solidFill>
              </a:rPr>
              <a:t>Owner: Regional Operations VP  |  By: May 30,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255263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8 BAJO_RENDIMIENTO stores need store visit in 30 days. Focus: surtido optimization, staff training, local promo calendar. Target: bring all stores to format median GMV/m² by Q3.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4334256"/>
            <a:ext cx="109728" cy="86868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43342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220"/>
                </a:solidFill>
              </a:rPr>
              <a:t>Renegotiate Low-GMROI Vendors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4767C"/>
                </a:solidFill>
              </a:rPr>
              <a:t>Owner: Buying / Procurement  |  By: Next Vendor Review Cycle (Q3)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334256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Identify all Tier C vendors with GMROI &lt; 1.0. Negotiate cost reduction or delist. Reallocate shelf space to high-velocity, high-margin SKUs.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5413248"/>
            <a:ext cx="109728" cy="868680"/>
          </a:xfrm>
          <a:prstGeom prst="rect">
            <a:avLst/>
          </a:prstGeom>
          <a:solidFill>
            <a:srgbClr val="747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54132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4767C"/>
                </a:solidFill>
              </a:rPr>
              <a:t>Implement Daily Store Data Monitor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576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4767C"/>
                </a:solidFill>
              </a:rPr>
              <a:t>Owner: Data Engineering  |  By: June 15,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5413248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Automated alert when any store has 0 transactions for &gt;24h. Fixes root cause of TIENDA_012 gap and pre-opening data issue. Alert via Slack + dashboard red indicator.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